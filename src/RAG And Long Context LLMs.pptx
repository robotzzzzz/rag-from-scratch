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Lexen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exend-regular.fntdata"/><Relationship Id="rId25" Type="http://schemas.openxmlformats.org/officeDocument/2006/relationships/slide" Target="slides/slide20.xml"/><Relationship Id="rId27" Type="http://schemas.openxmlformats.org/officeDocument/2006/relationships/font" Target="fonts/Lexen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6c0cb8dc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6c0cb8dc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6c0cb8dc66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6c0cb8dc6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ccebadb82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ccebadb82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6c0cb8dc66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6c0cb8dc6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6c0cb8dc66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6c0cb8dc66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6c0cb8dc66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6c0cb8dc66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6c0cb8dc66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6c0cb8dc66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6c0cb8dc66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6c0cb8dc66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c566abeaf8_4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c566abeaf8_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6c0cb8dc6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6c0cb8dc6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6c0cb8dc66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6c0cb8dc66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6c0cb8dc66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6c0cb8dc66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6c0cb8dc66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6c0cb8dc66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6c0cb8dc66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6c0cb8dc66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6c0cb8dc66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6c0cb8dc66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 redis seminar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 multi-modal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6c0cb8dc66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6c0cb8dc66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6c0cb8dc66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6c0cb8dc66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32k quality?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6c0cb8dc66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6c0cb8dc66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Latency w/ self-RAG?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c566abeaf8_4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c566abeaf8_4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Latency w/ self-RAG?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6c0cb8dc66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6c0cb8dc66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twitter.com/RLanceMarti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hyperlink" Target="https://github.com/langchain-ai/rag-from-scratch" TargetMode="External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hyperlink" Target="https://twitter.com/agishaun/status/1758561862764122191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hyperlink" Target="https://www.youtube.com/watch?v=wd7TZ4w1mSw&amp;feature=youtu.b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hyperlink" Target="https://github.com/gkamradt/LLMTest_NeedleInAHaystack" TargetMode="External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hyperlink" Target="https://youtu.be/UlmyyYQGhzc" TargetMode="External"/><Relationship Id="rId5" Type="http://schemas.openxmlformats.org/officeDocument/2006/relationships/hyperlink" Target="https://blog.langchain.dev/multi-needle-in-a-haystack/" TargetMode="External"/><Relationship Id="rId6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hyperlink" Target="https://arxiv.org/pdf/2310.01427.pdf" TargetMode="External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hyperlink" Target="https://twitter.com/thomasahle/status/1770520899349053835?s=20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hyperlink" Target="https://github.com/langchain-ai/rag-from-scratch" TargetMode="External"/><Relationship Id="rId5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hyperlink" Target="https://x.com/RLanceMartin/status/1764018419618484325?s=20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hyperlink" Target="https://python.langchain.com/docs/use_cases/query_analysis/" TargetMode="External"/><Relationship Id="rId5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hyperlink" Target="https://arxiv.org/pdf/2312.06648.pdf" TargetMode="External"/><Relationship Id="rId6" Type="http://schemas.openxmlformats.org/officeDocument/2006/relationships/hyperlink" Target="https://blog.langchain.dev/semi-structured-multi-modal-rag/" TargetMode="External"/><Relationship Id="rId7" Type="http://schemas.openxmlformats.org/officeDocument/2006/relationships/hyperlink" Target="https://python.langchain.com/docs/modules/data_connection/retrievers/parent_document_retriever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hyperlink" Target="https://arxiv.org/abs/2401.18059" TargetMode="External"/><Relationship Id="rId6" Type="http://schemas.openxmlformats.org/officeDocument/2006/relationships/hyperlink" Target="https://www.youtube.com/watch?v=jbGchdTL7d0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hyperlink" Target="https://www.together.ai/blog/embeddings-endpoint-release" TargetMode="External"/><Relationship Id="rId5" Type="http://schemas.openxmlformats.org/officeDocument/2006/relationships/hyperlink" Target="https://hazyresearch.stanford.edu/blog/2024-01-11-m2-bert-retrieval" TargetMode="External"/><Relationship Id="rId6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hyperlink" Target="https://arxiv.org/abs/2310.11511" TargetMode="External"/><Relationship Id="rId5" Type="http://schemas.openxmlformats.org/officeDocument/2006/relationships/hyperlink" Target="https://www.youtube.com/watch?v=E2shqsYwxck" TargetMode="External"/><Relationship Id="rId6" Type="http://schemas.openxmlformats.org/officeDocument/2006/relationships/hyperlink" Target="https://github.com/langchain-ai/langgraph/blob/main/examples/rag/langgraph_self_rag.ipynb" TargetMode="External"/><Relationship Id="rId7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hyperlink" Target="https://arxiv.org/abs/2401.15884" TargetMode="External"/><Relationship Id="rId5" Type="http://schemas.openxmlformats.org/officeDocument/2006/relationships/hyperlink" Target="https://www.youtube.com/watch?v=E2shqsYwxck" TargetMode="External"/><Relationship Id="rId6" Type="http://schemas.openxmlformats.org/officeDocument/2006/relationships/hyperlink" Target="https://github.com/langchain-ai/langgraph/blob/main/examples/rag/langgraph_crag.ipynb" TargetMode="External"/><Relationship Id="rId7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349" cy="76582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59675" y="2095050"/>
            <a:ext cx="90048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222222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Unifying RAG and long context LLMs</a:t>
            </a:r>
            <a:endParaRPr b="1" sz="2100">
              <a:solidFill>
                <a:srgbClr val="15171A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5171A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5171A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Lance Martin</a:t>
            </a:r>
            <a:endParaRPr sz="1500">
              <a:solidFill>
                <a:srgbClr val="15171A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5171A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Software Engineer, LangChain</a:t>
            </a:r>
            <a:endParaRPr sz="1500">
              <a:solidFill>
                <a:srgbClr val="15171A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rgbClr val="0097A7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@RLanceMartin</a:t>
            </a:r>
            <a:endParaRPr sz="1500">
              <a:solidFill>
                <a:srgbClr val="15171A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349" cy="76582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0" y="569063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Preface: RAG Course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1965300" y="4743300"/>
            <a:ext cx="521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https://github.com/langchain-ai/rag-from-scratch</a:t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5113" y="1025726"/>
            <a:ext cx="4953775" cy="366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349" cy="765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4077" y="1180125"/>
            <a:ext cx="3995825" cy="375875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0" y="569063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Context windows are getting larger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349" cy="765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3150" y="1198350"/>
            <a:ext cx="4557700" cy="27468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3609000" y="4743300"/>
            <a:ext cx="553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https://twitter.com/agishaun/status/1758561862764122191</a:t>
            </a:r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0" y="569063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Do we need RAG anymore?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349" cy="765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275" y="1111451"/>
            <a:ext cx="8839199" cy="369527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/>
        </p:nvSpPr>
        <p:spPr>
          <a:xfrm>
            <a:off x="0" y="569063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RAG: </a:t>
            </a:r>
            <a:r>
              <a:rPr lang="en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reasoning &amp; retrieval</a:t>
            </a:r>
            <a:r>
              <a:rPr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 on multiple chunks of information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3279900" y="4743300"/>
            <a:ext cx="58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https://www.youtube.com/watch?v=wd7TZ4w1mSw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349" cy="76582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/>
        </p:nvSpPr>
        <p:spPr>
          <a:xfrm>
            <a:off x="0" y="569063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Needle In A Haystack: test reasoning &amp; retrieval in long context LLMs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3107700" y="4743300"/>
            <a:ext cx="603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https://github.com/gkamradt/LLMTest_NeedleInAHaystack</a:t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25113"/>
            <a:ext cx="8839204" cy="2093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349" cy="76582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 txBox="1"/>
          <p:nvPr/>
        </p:nvSpPr>
        <p:spPr>
          <a:xfrm>
            <a:off x="0" y="569063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Retrieval is not guaranteed, reasoning harder than retrieval 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3107700" y="4527900"/>
            <a:ext cx="603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https://youtu.be/UlmyyYQGhzc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https://blog.langchain.dev/multi-needle-in-a-haystack/</a:t>
            </a:r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1089188"/>
            <a:ext cx="8839204" cy="2965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349" cy="76582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/>
        </p:nvSpPr>
        <p:spPr>
          <a:xfrm>
            <a:off x="0" y="569063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Challenge may be recency bias in LLMs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09" name="Google Shape;109;p20"/>
          <p:cNvSpPr txBox="1"/>
          <p:nvPr/>
        </p:nvSpPr>
        <p:spPr>
          <a:xfrm>
            <a:off x="3107700" y="4781700"/>
            <a:ext cx="6036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https://arxiv.org/pdf/2310.01427.pdf</a:t>
            </a:r>
            <a:endParaRPr sz="115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134875"/>
            <a:ext cx="8839204" cy="1541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p20"/>
          <p:cNvCxnSpPr/>
          <p:nvPr/>
        </p:nvCxnSpPr>
        <p:spPr>
          <a:xfrm>
            <a:off x="6412403" y="3418234"/>
            <a:ext cx="24282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20"/>
          <p:cNvCxnSpPr/>
          <p:nvPr/>
        </p:nvCxnSpPr>
        <p:spPr>
          <a:xfrm>
            <a:off x="246375" y="3625025"/>
            <a:ext cx="84897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20"/>
          <p:cNvCxnSpPr/>
          <p:nvPr/>
        </p:nvCxnSpPr>
        <p:spPr>
          <a:xfrm>
            <a:off x="533603" y="2792584"/>
            <a:ext cx="67875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" name="Google Shape;114;p20"/>
          <p:cNvCxnSpPr/>
          <p:nvPr/>
        </p:nvCxnSpPr>
        <p:spPr>
          <a:xfrm>
            <a:off x="1286503" y="2991984"/>
            <a:ext cx="27447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349" cy="765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6713" y="1661513"/>
            <a:ext cx="4430583" cy="332293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1"/>
          <p:cNvSpPr txBox="1"/>
          <p:nvPr/>
        </p:nvSpPr>
        <p:spPr>
          <a:xfrm>
            <a:off x="0" y="549007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(1) Be wary of context stuffing. No retrieval guarantees. </a:t>
            </a:r>
            <a:endParaRPr sz="1800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(2) Single needle </a:t>
            </a:r>
            <a:r>
              <a:rPr lang="en" sz="18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5"/>
              </a:rPr>
              <a:t>may be misleadingly easy</a:t>
            </a:r>
            <a:r>
              <a:rPr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 (no reasoning, only 1 fact)</a:t>
            </a:r>
            <a:endParaRPr sz="1800">
              <a:solidFill>
                <a:srgbClr val="59595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349" cy="765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5913" y="1215225"/>
            <a:ext cx="7252174" cy="341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/>
          <p:nvPr/>
        </p:nvSpPr>
        <p:spPr>
          <a:xfrm>
            <a:off x="5180050" y="4005150"/>
            <a:ext cx="1221900" cy="490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2"/>
          <p:cNvSpPr txBox="1"/>
          <p:nvPr/>
        </p:nvSpPr>
        <p:spPr>
          <a:xfrm>
            <a:off x="0" y="569063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This will obviously get better and </a:t>
            </a:r>
            <a:r>
              <a:rPr lang="en" sz="1800" u="sng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RAG will change</a:t>
            </a:r>
            <a:endParaRPr sz="1800" u="sng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349" cy="76582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3"/>
          <p:cNvSpPr txBox="1"/>
          <p:nvPr/>
        </p:nvSpPr>
        <p:spPr>
          <a:xfrm>
            <a:off x="0" y="569063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RAG today focused on </a:t>
            </a:r>
            <a:r>
              <a:rPr b="1"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precise retrieval</a:t>
            </a:r>
            <a:r>
              <a:rPr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 of relevant doc </a:t>
            </a:r>
            <a:r>
              <a:rPr b="1"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chunks</a:t>
            </a:r>
            <a:endParaRPr b="1" sz="1800" u="sng">
              <a:solidFill>
                <a:srgbClr val="595959"/>
              </a:solidFill>
            </a:endParaRPr>
          </a:p>
        </p:txBody>
      </p:sp>
      <p:sp>
        <p:nvSpPr>
          <p:cNvPr id="136" name="Google Shape;136;p23"/>
          <p:cNvSpPr txBox="1"/>
          <p:nvPr/>
        </p:nvSpPr>
        <p:spPr>
          <a:xfrm>
            <a:off x="3091800" y="4743300"/>
            <a:ext cx="605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https://github.com/langchain-ai/rag-from-scratch</a:t>
            </a:r>
            <a:endParaRPr/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66450" y="1189563"/>
            <a:ext cx="4976950" cy="3469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349" cy="76582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4"/>
          <p:cNvSpPr txBox="1"/>
          <p:nvPr/>
        </p:nvSpPr>
        <p:spPr>
          <a:xfrm>
            <a:off x="0" y="569063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Need to balance </a:t>
            </a:r>
            <a:r>
              <a:rPr b="1"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system complexity</a:t>
            </a:r>
            <a:r>
              <a:rPr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 vs </a:t>
            </a:r>
            <a:r>
              <a:rPr b="1"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latency &amp; </a:t>
            </a:r>
            <a:r>
              <a:rPr b="1"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token usage</a:t>
            </a:r>
            <a:endParaRPr b="1" sz="1800" u="sng">
              <a:solidFill>
                <a:srgbClr val="595959"/>
              </a:solidFill>
            </a:endParaRPr>
          </a:p>
        </p:txBody>
      </p:sp>
      <p:pic>
        <p:nvPicPr>
          <p:cNvPr id="144" name="Google Shape;14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15813"/>
            <a:ext cx="8839201" cy="3700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349" cy="765826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 txBox="1"/>
          <p:nvPr/>
        </p:nvSpPr>
        <p:spPr>
          <a:xfrm>
            <a:off x="0" y="574263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Some ideas …</a:t>
            </a:r>
            <a:endParaRPr b="1" sz="1800" u="sng">
              <a:solidFill>
                <a:srgbClr val="595959"/>
              </a:solidFill>
            </a:endParaRPr>
          </a:p>
        </p:txBody>
      </p:sp>
      <p:pic>
        <p:nvPicPr>
          <p:cNvPr id="151" name="Google Shape;15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8050" y="1742446"/>
            <a:ext cx="6327901" cy="165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/>
          <p:nvPr/>
        </p:nvSpPr>
        <p:spPr>
          <a:xfrm>
            <a:off x="2606400" y="4781700"/>
            <a:ext cx="65376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u="sng">
                <a:solidFill>
                  <a:schemeClr val="hlink"/>
                </a:solidFill>
                <a:highlight>
                  <a:srgbClr val="FFFFFF"/>
                </a:highlight>
                <a:hlinkClick r:id="rId5"/>
              </a:rPr>
              <a:t>https://x.com/RLanceMartin/status/1764018419618484325?s=20</a:t>
            </a:r>
            <a:endParaRPr sz="115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349" cy="76582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 txBox="1"/>
          <p:nvPr/>
        </p:nvSpPr>
        <p:spPr>
          <a:xfrm>
            <a:off x="0" y="569063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Query analysis</a:t>
            </a:r>
            <a:r>
              <a:rPr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: Connect questions to the right document</a:t>
            </a:r>
            <a:endParaRPr sz="1800" u="sng">
              <a:solidFill>
                <a:srgbClr val="595959"/>
              </a:solidFill>
            </a:endParaRPr>
          </a:p>
        </p:txBody>
      </p:sp>
      <p:sp>
        <p:nvSpPr>
          <p:cNvPr id="159" name="Google Shape;159;p26"/>
          <p:cNvSpPr txBox="1"/>
          <p:nvPr/>
        </p:nvSpPr>
        <p:spPr>
          <a:xfrm>
            <a:off x="2146175" y="4743300"/>
            <a:ext cx="69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https://python.langchain.com/docs/use_cases/query_analysis/</a:t>
            </a:r>
            <a:endParaRPr/>
          </a:p>
        </p:txBody>
      </p:sp>
      <p:pic>
        <p:nvPicPr>
          <p:cNvPr id="160" name="Google Shape;160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79113" y="1189588"/>
            <a:ext cx="4585772" cy="3469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349" cy="76582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 txBox="1"/>
          <p:nvPr/>
        </p:nvSpPr>
        <p:spPr>
          <a:xfrm>
            <a:off x="0" y="569063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Indexing</a:t>
            </a:r>
            <a:r>
              <a:rPr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: Use representations to simplify document retrieval</a:t>
            </a:r>
            <a:endParaRPr sz="1800" u="sng">
              <a:solidFill>
                <a:srgbClr val="595959"/>
              </a:solidFill>
            </a:endParaRPr>
          </a:p>
        </p:txBody>
      </p:sp>
      <p:pic>
        <p:nvPicPr>
          <p:cNvPr id="167" name="Google Shape;16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8250" y="1382772"/>
            <a:ext cx="6907499" cy="284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7"/>
          <p:cNvSpPr txBox="1"/>
          <p:nvPr/>
        </p:nvSpPr>
        <p:spPr>
          <a:xfrm>
            <a:off x="234000" y="4312200"/>
            <a:ext cx="891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https://arxiv.org/pdf/2312.06648.pdf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https://blog.langchain.dev/semi-structured-multi-modal-rag/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7"/>
              </a:rPr>
              <a:t>https://python.langchain.com/docs/modules/data_connection/retrievers/parent_document_retriever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349" cy="76582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8"/>
          <p:cNvSpPr txBox="1"/>
          <p:nvPr/>
        </p:nvSpPr>
        <p:spPr>
          <a:xfrm>
            <a:off x="0" y="569063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Indexing</a:t>
            </a:r>
            <a:r>
              <a:rPr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: Use trees to consolidate info across many d</a:t>
            </a:r>
            <a:r>
              <a:rPr lang="en" sz="1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ocuments</a:t>
            </a:r>
            <a:endParaRPr sz="1800" u="sng">
              <a:solidFill>
                <a:srgbClr val="595959"/>
              </a:solidFill>
            </a:endParaRPr>
          </a:p>
        </p:txBody>
      </p:sp>
      <p:pic>
        <p:nvPicPr>
          <p:cNvPr id="175" name="Google Shape;17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0550" y="1274063"/>
            <a:ext cx="4318893" cy="3253837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8"/>
          <p:cNvSpPr txBox="1"/>
          <p:nvPr/>
        </p:nvSpPr>
        <p:spPr>
          <a:xfrm>
            <a:off x="4308600" y="4527900"/>
            <a:ext cx="486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https://arxiv.org/abs/2401.18059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https://www.youtube.com/watch?v=jbGchdTL7d0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349" cy="76582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9"/>
          <p:cNvSpPr txBox="1"/>
          <p:nvPr/>
        </p:nvSpPr>
        <p:spPr>
          <a:xfrm>
            <a:off x="0" y="569063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Indexing</a:t>
            </a:r>
            <a:r>
              <a:rPr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: Use long context embeddings</a:t>
            </a:r>
            <a:endParaRPr sz="1800" u="sng">
              <a:solidFill>
                <a:srgbClr val="595959"/>
              </a:solidFill>
            </a:endParaRPr>
          </a:p>
        </p:txBody>
      </p:sp>
      <p:sp>
        <p:nvSpPr>
          <p:cNvPr id="183" name="Google Shape;183;p29"/>
          <p:cNvSpPr txBox="1"/>
          <p:nvPr/>
        </p:nvSpPr>
        <p:spPr>
          <a:xfrm>
            <a:off x="1686600" y="4527900"/>
            <a:ext cx="745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https://www.together.ai/blog/embeddings-endpoint-release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https://hazyresearch.stanford.edu/blog/2024-01-11-m2-bert-retrieval</a:t>
            </a:r>
            <a:endParaRPr/>
          </a:p>
        </p:txBody>
      </p:sp>
      <p:pic>
        <p:nvPicPr>
          <p:cNvPr id="184" name="Google Shape;184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94975" y="1163438"/>
            <a:ext cx="6354031" cy="3253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349" cy="76582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0"/>
          <p:cNvSpPr txBox="1"/>
          <p:nvPr/>
        </p:nvSpPr>
        <p:spPr>
          <a:xfrm>
            <a:off x="0" y="569063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Reasoning</a:t>
            </a:r>
            <a:r>
              <a:rPr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: Use reasoning / self-reflection around RAG</a:t>
            </a:r>
            <a:endParaRPr sz="1800" u="sng">
              <a:solidFill>
                <a:srgbClr val="595959"/>
              </a:solidFill>
            </a:endParaRPr>
          </a:p>
        </p:txBody>
      </p:sp>
      <p:sp>
        <p:nvSpPr>
          <p:cNvPr id="191" name="Google Shape;191;p30"/>
          <p:cNvSpPr txBox="1"/>
          <p:nvPr/>
        </p:nvSpPr>
        <p:spPr>
          <a:xfrm>
            <a:off x="113400" y="4312200"/>
            <a:ext cx="903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https://arxiv.org/abs/2310.11511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https://www.youtube.com/watch?v=E2shqsYwxck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https://github.com/langchain-ai/langgraph/blob/main/examples/rag/langgraph_self_rag.ipynb</a:t>
            </a:r>
            <a:endParaRPr/>
          </a:p>
        </p:txBody>
      </p:sp>
      <p:pic>
        <p:nvPicPr>
          <p:cNvPr id="192" name="Google Shape;192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7875" y="1121663"/>
            <a:ext cx="8128259" cy="32538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349" cy="76582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1"/>
          <p:cNvSpPr txBox="1"/>
          <p:nvPr/>
        </p:nvSpPr>
        <p:spPr>
          <a:xfrm>
            <a:off x="0" y="569063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Reasoning</a:t>
            </a:r>
            <a:r>
              <a:rPr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: Use reasoning / self-reflection around RAG</a:t>
            </a:r>
            <a:endParaRPr sz="1800" u="sng">
              <a:solidFill>
                <a:srgbClr val="595959"/>
              </a:solidFill>
            </a:endParaRPr>
          </a:p>
        </p:txBody>
      </p:sp>
      <p:sp>
        <p:nvSpPr>
          <p:cNvPr id="199" name="Google Shape;199;p31"/>
          <p:cNvSpPr txBox="1"/>
          <p:nvPr/>
        </p:nvSpPr>
        <p:spPr>
          <a:xfrm>
            <a:off x="0" y="4312200"/>
            <a:ext cx="9117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https://arxiv.org/abs/2401.15884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https://www.youtube.com/watch?v=E2shqsYwxck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https://github.com/langchain-ai/langgraph/blob/main/examples/rag/langgraph_crag.ipynb</a:t>
            </a:r>
            <a:endParaRPr/>
          </a:p>
        </p:txBody>
      </p:sp>
      <p:pic>
        <p:nvPicPr>
          <p:cNvPr id="200" name="Google Shape;200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1825" y="1121663"/>
            <a:ext cx="7060332" cy="3253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349" cy="76582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2"/>
          <p:cNvSpPr txBox="1"/>
          <p:nvPr/>
        </p:nvSpPr>
        <p:spPr>
          <a:xfrm>
            <a:off x="0" y="569063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Overall picture</a:t>
            </a:r>
            <a:r>
              <a:rPr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: Doc-centric, no splits or compression, reason pre/post </a:t>
            </a:r>
            <a:r>
              <a:rPr lang="en" sz="1800">
                <a:solidFill>
                  <a:srgbClr val="595959"/>
                </a:solidFill>
                <a:latin typeface="Lexend"/>
                <a:ea typeface="Lexend"/>
                <a:cs typeface="Lexend"/>
                <a:sym typeface="Lexend"/>
              </a:rPr>
              <a:t>retrieval</a:t>
            </a:r>
            <a:endParaRPr sz="1800" u="sng">
              <a:solidFill>
                <a:srgbClr val="595959"/>
              </a:solidFill>
            </a:endParaRPr>
          </a:p>
        </p:txBody>
      </p:sp>
      <p:pic>
        <p:nvPicPr>
          <p:cNvPr id="207" name="Google Shape;20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2100" y="1059013"/>
            <a:ext cx="4899811" cy="3869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